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ooper BT Light" panose="020B0604020202020204" charset="0"/>
      <p:regular r:id="rId12"/>
    </p:embeddedFont>
    <p:embeddedFont>
      <p:font typeface="Cooper BT Medium" panose="020B0604020202020204" charset="0"/>
      <p:regular r:id="rId13"/>
    </p:embeddedFont>
    <p:embeddedFont>
      <p:font typeface="TT Interphases" panose="020B0604020202020204" charset="0"/>
      <p:regular r:id="rId14"/>
    </p:embeddedFont>
    <p:embeddedFont>
      <p:font typeface="TT Interphas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1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b741c91606e0cca" providerId="LiveId" clId="{072C5415-0045-4B5F-9A1E-16FE320C1D0F}"/>
    <pc:docChg chg="custSel modSld">
      <pc:chgData name="" userId="9b741c91606e0cca" providerId="LiveId" clId="{072C5415-0045-4B5F-9A1E-16FE320C1D0F}" dt="2026-01-06T07:18:24.421" v="160" actId="20577"/>
      <pc:docMkLst>
        <pc:docMk/>
      </pc:docMkLst>
      <pc:sldChg chg="modSp">
        <pc:chgData name="" userId="9b741c91606e0cca" providerId="LiveId" clId="{072C5415-0045-4B5F-9A1E-16FE320C1D0F}" dt="2026-01-06T07:18:24.421" v="160" actId="20577"/>
        <pc:sldMkLst>
          <pc:docMk/>
          <pc:sldMk cId="0" sldId="256"/>
        </pc:sldMkLst>
        <pc:spChg chg="mod">
          <ac:chgData name="" userId="9b741c91606e0cca" providerId="LiveId" clId="{072C5415-0045-4B5F-9A1E-16FE320C1D0F}" dt="2026-01-06T07:18:24.421" v="160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">
        <pc:chgData name="" userId="9b741c91606e0cca" providerId="LiveId" clId="{072C5415-0045-4B5F-9A1E-16FE320C1D0F}" dt="2026-01-06T07:16:18.836" v="145" actId="20577"/>
        <pc:sldMkLst>
          <pc:docMk/>
          <pc:sldMk cId="0" sldId="259"/>
        </pc:sldMkLst>
        <pc:spChg chg="mod">
          <ac:chgData name="" userId="9b741c91606e0cca" providerId="LiveId" clId="{072C5415-0045-4B5F-9A1E-16FE320C1D0F}" dt="2026-01-06T07:14:02.553" v="33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" userId="9b741c91606e0cca" providerId="LiveId" clId="{072C5415-0045-4B5F-9A1E-16FE320C1D0F}" dt="2026-01-06T07:16:18.836" v="145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" userId="9b741c91606e0cca" providerId="LiveId" clId="{072C5415-0045-4B5F-9A1E-16FE320C1D0F}" dt="2026-01-06T07:15:21.104" v="81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" userId="9b741c91606e0cca" providerId="LiveId" clId="{072C5415-0045-4B5F-9A1E-16FE320C1D0F}" dt="2026-01-06T07:15:01.021" v="64" actId="31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" userId="9b741c91606e0cca" providerId="LiveId" clId="{072C5415-0045-4B5F-9A1E-16FE320C1D0F}" dt="2026-01-06T07:13:04.392" v="11" actId="20577"/>
          <ac:spMkLst>
            <pc:docMk/>
            <pc:sldMk cId="0" sldId="259"/>
            <ac:spMk id="14" creationId="{00000000-0000-0000-0000-000000000000}"/>
          </ac:spMkLst>
        </pc:spChg>
        <pc:grpChg chg="mod">
          <ac:chgData name="" userId="9b741c91606e0cca" providerId="LiveId" clId="{072C5415-0045-4B5F-9A1E-16FE320C1D0F}" dt="2026-01-06T07:12:32.664" v="0" actId="1076"/>
          <ac:grpSpMkLst>
            <pc:docMk/>
            <pc:sldMk cId="0" sldId="259"/>
            <ac:grpSpMk id="2" creationId="{00000000-0000-0000-0000-000000000000}"/>
          </ac:grpSpMkLst>
        </pc:grpChg>
        <pc:grpChg chg="mod">
          <ac:chgData name="" userId="9b741c91606e0cca" providerId="LiveId" clId="{072C5415-0045-4B5F-9A1E-16FE320C1D0F}" dt="2026-01-06T07:14:49.326" v="62" actId="1036"/>
          <ac:grpSpMkLst>
            <pc:docMk/>
            <pc:sldMk cId="0" sldId="259"/>
            <ac:grpSpMk id="5" creationId="{00000000-0000-0000-0000-000000000000}"/>
          </ac:grpSpMkLst>
        </pc:grpChg>
        <pc:grpChg chg="mod">
          <ac:chgData name="" userId="9b741c91606e0cca" providerId="LiveId" clId="{072C5415-0045-4B5F-9A1E-16FE320C1D0F}" dt="2026-01-06T07:14:00.467" v="32" actId="14100"/>
          <ac:grpSpMkLst>
            <pc:docMk/>
            <pc:sldMk cId="0" sldId="259"/>
            <ac:grpSpMk id="12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1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8571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5398824"/>
            <a:chOff x="0" y="0"/>
            <a:chExt cx="11099800" cy="7198432"/>
          </a:xfrm>
        </p:grpSpPr>
        <p:sp>
          <p:nvSpPr>
            <p:cNvPr id="6" name="TextBox 6"/>
            <p:cNvSpPr txBox="1"/>
            <p:nvPr/>
          </p:nvSpPr>
          <p:spPr>
            <a:xfrm>
              <a:off x="0" y="6680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Automating Attendance Tracking with Technology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5999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Smart Attendance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8724859"/>
            <a:ext cx="8324850" cy="895391"/>
            <a:chOff x="0" y="0"/>
            <a:chExt cx="11099800" cy="1193854"/>
          </a:xfrm>
        </p:grpSpPr>
        <p:sp>
          <p:nvSpPr>
            <p:cNvPr id="9" name="TextBox 9"/>
            <p:cNvSpPr txBox="1"/>
            <p:nvPr/>
          </p:nvSpPr>
          <p:spPr>
            <a:xfrm>
              <a:off x="0" y="659184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System Analyst and Developer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581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800" b="1" dirty="0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Team 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1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352800"/>
            <a:ext cx="8324850" cy="5417820"/>
            <a:chOff x="0" y="0"/>
            <a:chExt cx="11099800" cy="7223760"/>
          </a:xfrm>
        </p:grpSpPr>
        <p:sp>
          <p:nvSpPr>
            <p:cNvPr id="3" name="TextBox 3"/>
            <p:cNvSpPr txBox="1"/>
            <p:nvPr/>
          </p:nvSpPr>
          <p:spPr>
            <a:xfrm>
              <a:off x="0" y="5143500"/>
              <a:ext cx="11099800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sz="2400" b="1" u="none" strike="noStrike" spc="-48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smart attendance system</a:t>
              </a: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utilizes technology to automate attendance tracking, making the process efficient and user-friendly, allowing students to log their presence easily through an app.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4950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Smart Attendance System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3A69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1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73009" y="666750"/>
            <a:ext cx="9148241" cy="8953500"/>
            <a:chOff x="0" y="0"/>
            <a:chExt cx="240941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413" cy="2358124"/>
            </a:xfrm>
            <a:custGeom>
              <a:avLst/>
              <a:gdLst/>
              <a:ahLst/>
              <a:cxnLst/>
              <a:rect l="l" t="t" r="r" b="b"/>
              <a:pathLst>
                <a:path w="2409413" h="2358124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FCDD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5200651"/>
            <a:chOff x="0" y="0"/>
            <a:chExt cx="9182100" cy="6934201"/>
          </a:xfrm>
        </p:grpSpPr>
        <p:sp>
          <p:nvSpPr>
            <p:cNvPr id="6" name="TextBox 6"/>
            <p:cNvSpPr txBox="1"/>
            <p:nvPr/>
          </p:nvSpPr>
          <p:spPr>
            <a:xfrm>
              <a:off x="0" y="6416041"/>
              <a:ext cx="91821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Enhancing Efficiency and Accuracy in Tracking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61925"/>
              <a:ext cx="9182100" cy="5866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99"/>
                </a:lnSpc>
                <a:spcBef>
                  <a:spcPct val="0"/>
                </a:spcBef>
              </a:pPr>
              <a:r>
                <a:rPr lang="en-US" sz="8499" u="none" strike="noStrike" spc="-169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Benefits of a Smart Attendance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1562100"/>
            <a:ext cx="6886575" cy="1294130"/>
            <a:chOff x="0" y="0"/>
            <a:chExt cx="9182100" cy="1725506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Time-saving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Automates attendance logging, </a:t>
              </a:r>
              <a:r>
                <a:rPr lang="en-US" sz="2400" b="1" u="none" strike="noStrike" spc="-48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freeing up valuable time</a:t>
              </a: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354706"/>
            <a:ext cx="6886575" cy="1294130"/>
            <a:chOff x="0" y="0"/>
            <a:chExt cx="9182100" cy="17255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Reduced Errors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Minimizes human mistakes through </a:t>
              </a:r>
              <a:r>
                <a:rPr lang="en-US" sz="2400" b="1" u="none" strike="noStrike" spc="-48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automated data collection</a:t>
              </a: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4135"/>
            <a:ext cx="6886575" cy="1294130"/>
            <a:chOff x="0" y="0"/>
            <a:chExt cx="9182100" cy="172550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Easy Data Management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Centralizes attendance records for </a:t>
              </a:r>
              <a:r>
                <a:rPr lang="en-US" sz="2400" b="1" u="none" strike="noStrike" spc="-48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quick access and analysis</a:t>
              </a: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6933565"/>
            <a:ext cx="6886575" cy="1294130"/>
            <a:chOff x="0" y="0"/>
            <a:chExt cx="9182100" cy="172550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38100"/>
              <a:ext cx="91821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>
                  <a:solidFill>
                    <a:srgbClr val="1F0E03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Accurate Data Collection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686646"/>
              <a:ext cx="9182100" cy="1038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Ensures reliable attendance records using </a:t>
              </a:r>
              <a:r>
                <a:rPr lang="en-US" sz="2400" b="1" u="none" strike="noStrike" spc="-48">
                  <a:solidFill>
                    <a:srgbClr val="1F0E0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advanced technology</a:t>
              </a:r>
              <a:r>
                <a:rPr lang="en-US" sz="2400" u="none" strike="noStrike" spc="-48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1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91290" y="3352800"/>
            <a:ext cx="8324850" cy="6267450"/>
            <a:chOff x="0" y="0"/>
            <a:chExt cx="2192553" cy="16506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650686"/>
            </a:xfrm>
            <a:custGeom>
              <a:avLst/>
              <a:gdLst/>
              <a:ahLst/>
              <a:cxnLst/>
              <a:rect l="l" t="t" r="r" b="b"/>
              <a:pathLst>
                <a:path w="2192553" h="165068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CDD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26816" y="3448050"/>
            <a:ext cx="8324850" cy="6267450"/>
            <a:chOff x="0" y="0"/>
            <a:chExt cx="2192553" cy="16506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650686"/>
            </a:xfrm>
            <a:custGeom>
              <a:avLst/>
              <a:gdLst/>
              <a:ahLst/>
              <a:cxnLst/>
              <a:rect l="l" t="t" r="r" b="b"/>
              <a:pathLst>
                <a:path w="2192553" h="1650686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13487"/>
                  </a:lnTo>
                  <a:cubicBezTo>
                    <a:pt x="2192553" y="1623353"/>
                    <a:pt x="2188634" y="1632815"/>
                    <a:pt x="2181658" y="1639791"/>
                  </a:cubicBezTo>
                  <a:cubicBezTo>
                    <a:pt x="2174682" y="1646767"/>
                    <a:pt x="2165220" y="1650686"/>
                    <a:pt x="2155354" y="1650686"/>
                  </a:cubicBezTo>
                  <a:lnTo>
                    <a:pt x="37199" y="1650686"/>
                  </a:lnTo>
                  <a:cubicBezTo>
                    <a:pt x="27333" y="1650686"/>
                    <a:pt x="17872" y="1646767"/>
                    <a:pt x="10895" y="1639791"/>
                  </a:cubicBezTo>
                  <a:cubicBezTo>
                    <a:pt x="3919" y="1632815"/>
                    <a:pt x="0" y="1623353"/>
                    <a:pt x="0" y="1613487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CDD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2553" cy="1679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105025" y="828675"/>
            <a:ext cx="14077950" cy="113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1F0E0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Project Design Steps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00225" y="4219575"/>
            <a:ext cx="5753100" cy="2062390"/>
            <a:chOff x="0" y="-38100"/>
            <a:chExt cx="7670800" cy="274985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55601"/>
              <a:ext cx="7670800" cy="1556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-use case diagram</a:t>
              </a:r>
            </a:p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u="none" strike="noStrike" spc="-48" dirty="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Sequence diagram.</a:t>
              </a:r>
            </a:p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dirty="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Class </a:t>
              </a:r>
              <a:r>
                <a:rPr lang="en-US" sz="2400" spc="-48" dirty="0" err="1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digram</a:t>
              </a:r>
              <a:endParaRPr lang="en-US" sz="2400" u="none" strike="noStrike" spc="-48" dirty="0">
                <a:solidFill>
                  <a:srgbClr val="1F0E03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670800" cy="62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 dirty="0">
                  <a:solidFill>
                    <a:srgbClr val="1F0E03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System design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716" y="4219575"/>
            <a:ext cx="5705259" cy="2088969"/>
            <a:chOff x="0" y="-38100"/>
            <a:chExt cx="7607012" cy="2704985"/>
          </a:xfrm>
        </p:grpSpPr>
        <p:sp>
          <p:nvSpPr>
            <p:cNvPr id="13" name="TextBox 13"/>
            <p:cNvSpPr txBox="1"/>
            <p:nvPr/>
          </p:nvSpPr>
          <p:spPr>
            <a:xfrm>
              <a:off x="4935" y="1155601"/>
              <a:ext cx="7585392" cy="15112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algn="l">
                <a:lnSpc>
                  <a:spcPts val="3120"/>
                </a:lnSpc>
                <a:spcBef>
                  <a:spcPct val="0"/>
                </a:spcBef>
                <a:buFontTx/>
                <a:buChar char="-"/>
              </a:pPr>
              <a:r>
                <a:rPr lang="en-US" sz="2400" spc="-48" dirty="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Activity diagram</a:t>
              </a:r>
              <a:r>
                <a:rPr lang="en-US" sz="2400" u="none" strike="noStrike" spc="-48" dirty="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  <a:p>
              <a:pPr marL="342900" lvl="0" indent="-342900" algn="l">
                <a:lnSpc>
                  <a:spcPts val="3120"/>
                </a:lnSpc>
                <a:spcBef>
                  <a:spcPct val="0"/>
                </a:spcBef>
                <a:buFontTx/>
                <a:buChar char="-"/>
              </a:pPr>
              <a:r>
                <a:rPr lang="en-US" sz="2400" u="none" strike="noStrike" spc="-48" dirty="0">
                  <a:solidFill>
                    <a:srgbClr val="1F0E0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 case discerption</a:t>
              </a:r>
            </a:p>
            <a:p>
              <a:pPr marL="342900" lvl="0" indent="-342900" algn="l">
                <a:lnSpc>
                  <a:spcPts val="3120"/>
                </a:lnSpc>
                <a:spcBef>
                  <a:spcPct val="0"/>
                </a:spcBef>
                <a:buFontTx/>
                <a:buChar char="-"/>
              </a:pPr>
              <a:endParaRPr lang="en-US" sz="2400" u="none" strike="noStrike" spc="-48" dirty="0">
                <a:solidFill>
                  <a:srgbClr val="1F0E03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607012" cy="6203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u="none" strike="noStrike" dirty="0">
                  <a:solidFill>
                    <a:srgbClr val="1F0E03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System analysis</a:t>
              </a:r>
            </a:p>
          </p:txBody>
        </p:sp>
      </p:grpSp>
      <p:sp>
        <p:nvSpPr>
          <p:cNvPr id="15" name="Freeform 15"/>
          <p:cNvSpPr/>
          <p:nvPr/>
        </p:nvSpPr>
        <p:spPr>
          <a:xfrm flipH="1" flipV="1">
            <a:off x="16683209" y="3726256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2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2" y="0"/>
                </a:lnTo>
                <a:lnTo>
                  <a:pt x="1876082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1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7917" y="828675"/>
            <a:ext cx="14055058" cy="220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u="none" strike="noStrike" spc="-169">
                <a:solidFill>
                  <a:srgbClr val="1F0E0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Design Solution and Implementation Steps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4248150"/>
            <a:ext cx="5448300" cy="5372100"/>
            <a:chOff x="0" y="0"/>
            <a:chExt cx="1434943" cy="14148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CDD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419850" y="4248150"/>
            <a:ext cx="5448300" cy="5372100"/>
            <a:chOff x="0" y="0"/>
            <a:chExt cx="1434943" cy="14148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CDD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72950" y="4248150"/>
            <a:ext cx="5448300" cy="5372100"/>
            <a:chOff x="0" y="0"/>
            <a:chExt cx="1434943" cy="14148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4943" cy="1414874"/>
            </a:xfrm>
            <a:custGeom>
              <a:avLst/>
              <a:gdLst/>
              <a:ahLst/>
              <a:cxnLst/>
              <a:rect l="l" t="t" r="r" b="b"/>
              <a:pathLst>
                <a:path w="1434943" h="141487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358035"/>
                  </a:lnTo>
                  <a:cubicBezTo>
                    <a:pt x="1434943" y="1389426"/>
                    <a:pt x="1409495" y="1414874"/>
                    <a:pt x="1378104" y="1414874"/>
                  </a:cubicBezTo>
                  <a:lnTo>
                    <a:pt x="56839" y="1414874"/>
                  </a:lnTo>
                  <a:cubicBezTo>
                    <a:pt x="25448" y="1414874"/>
                    <a:pt x="0" y="1389426"/>
                    <a:pt x="0" y="135803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CDDCA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34943" cy="14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92088" y="6009427"/>
            <a:ext cx="4010025" cy="273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1"/>
              </a:lnSpc>
              <a:spcBef>
                <a:spcPct val="0"/>
              </a:spcBef>
            </a:pPr>
            <a:r>
              <a:rPr lang="en-US" sz="2370" u="none" strike="noStrike" spc="-47">
                <a:solidFill>
                  <a:srgbClr val="1F0E0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comprehensive testing plan will verify system accuracy and reliability, including unit testing, user acceptance testing, and ongoing evaluations after deployment to ensure consistent performance.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92088" y="5114925"/>
            <a:ext cx="4010025" cy="42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8"/>
              </a:lnSpc>
              <a:spcBef>
                <a:spcPct val="0"/>
              </a:spcBef>
            </a:pPr>
            <a:r>
              <a:rPr lang="en-US" sz="2637" u="none" strike="noStrike">
                <a:solidFill>
                  <a:srgbClr val="1F0E03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Testing Strategy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58038" y="6009373"/>
            <a:ext cx="3971925" cy="273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1"/>
              </a:lnSpc>
              <a:spcBef>
                <a:spcPct val="0"/>
              </a:spcBef>
            </a:pPr>
            <a:r>
              <a:rPr lang="en-US" sz="2370" u="none" strike="noStrike" spc="-47">
                <a:solidFill>
                  <a:srgbClr val="1F0E0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Technologies will be selected based on system requirements, with a clear timeline established to ensure smooth rollout and integration into existing educational frameworks.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58038" y="5114979"/>
            <a:ext cx="3971925" cy="42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8"/>
              </a:lnSpc>
              <a:spcBef>
                <a:spcPct val="0"/>
              </a:spcBef>
            </a:pPr>
            <a:r>
              <a:rPr lang="en-US" sz="2637" u="none" strike="noStrike">
                <a:solidFill>
                  <a:srgbClr val="1F0E03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Implementation Planning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5887" y="6009427"/>
            <a:ext cx="4010025" cy="273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81"/>
              </a:lnSpc>
              <a:spcBef>
                <a:spcPct val="0"/>
              </a:spcBef>
            </a:pPr>
            <a:r>
              <a:rPr lang="en-US" sz="2370" u="none" strike="noStrike" spc="-47">
                <a:solidFill>
                  <a:srgbClr val="1F0E03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architecture includes hardware like RFID readers and software components such as a mobile app, ensuring seamless interaction for accurate attendance recording and management.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5887" y="5114925"/>
            <a:ext cx="4010025" cy="42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8"/>
              </a:lnSpc>
              <a:spcBef>
                <a:spcPct val="0"/>
              </a:spcBef>
            </a:pPr>
            <a:r>
              <a:rPr lang="en-US" sz="2637" u="none" strike="noStrike">
                <a:solidFill>
                  <a:srgbClr val="1F0E03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Solution Architecture</a:t>
            </a:r>
          </a:p>
        </p:txBody>
      </p:sp>
      <p:sp>
        <p:nvSpPr>
          <p:cNvPr id="18" name="Freeform 18"/>
          <p:cNvSpPr/>
          <p:nvPr/>
        </p:nvSpPr>
        <p:spPr>
          <a:xfrm rot="10445243" flipH="1">
            <a:off x="-689073" y="5800140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0"/>
                </a:moveTo>
                <a:lnTo>
                  <a:pt x="0" y="0"/>
                </a:lnTo>
                <a:lnTo>
                  <a:pt x="0" y="1497455"/>
                </a:lnTo>
                <a:lnTo>
                  <a:pt x="1876083" y="1497455"/>
                </a:lnTo>
                <a:lnTo>
                  <a:pt x="18760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1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02596" y="0"/>
            <a:ext cx="8185404" cy="10287000"/>
            <a:chOff x="0" y="0"/>
            <a:chExt cx="215582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5827" cy="2709333"/>
            </a:xfrm>
            <a:custGeom>
              <a:avLst/>
              <a:gdLst/>
              <a:ahLst/>
              <a:cxnLst/>
              <a:rect l="l" t="t" r="r" b="b"/>
              <a:pathLst>
                <a:path w="2155827" h="2709333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8571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666750"/>
            <a:ext cx="6886575" cy="8953500"/>
            <a:chOff x="0" y="0"/>
            <a:chExt cx="812800" cy="105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9153525"/>
            <a:ext cx="832485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1F0E03"/>
                </a:solidFill>
                <a:latin typeface="Cooper BT Medium"/>
                <a:ea typeface="Cooper BT Medium"/>
                <a:cs typeface="Cooper BT Medium"/>
                <a:sym typeface="Cooper BT Medium"/>
              </a:rPr>
              <a:t>Smart Attendance Systems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800100"/>
            <a:ext cx="8324850" cy="291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00"/>
              </a:lnSpc>
              <a:spcBef>
                <a:spcPct val="0"/>
              </a:spcBef>
            </a:pPr>
            <a:r>
              <a:rPr lang="en-US" sz="7500" u="none" strike="noStrike" spc="-150">
                <a:solidFill>
                  <a:srgbClr val="1F0E03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Innovating attendance for efficiency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221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Arial</vt:lpstr>
      <vt:lpstr>Cooper BT Medium</vt:lpstr>
      <vt:lpstr>TT Interphases</vt:lpstr>
      <vt:lpstr>TT Interphases Bold</vt:lpstr>
      <vt:lpstr>Cooper BT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- Smart Attendance System</dc:title>
  <dc:description>عرض تقديمي - Smart Attendance System</dc:description>
  <cp:lastModifiedBy>NTG SCHOOL</cp:lastModifiedBy>
  <cp:revision>2</cp:revision>
  <dcterms:created xsi:type="dcterms:W3CDTF">2006-08-16T00:00:00Z</dcterms:created>
  <dcterms:modified xsi:type="dcterms:W3CDTF">2026-01-06T09:33:49Z</dcterms:modified>
  <dc:identifier>DAG9lJe3iI8</dc:identifier>
</cp:coreProperties>
</file>