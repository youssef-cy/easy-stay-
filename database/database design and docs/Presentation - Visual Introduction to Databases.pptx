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8288000" cy="10287000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ITC Avant Garde Gothic" panose="020B0604020202020204" charset="0"/>
      <p:regular r:id="rId24"/>
    </p:embeddedFont>
    <p:embeddedFont>
      <p:font typeface="TT Fors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27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68150" y="0"/>
            <a:ext cx="6419850" cy="10287000"/>
            <a:chOff x="0" y="0"/>
            <a:chExt cx="994603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4603" cy="1593725"/>
            </a:xfrm>
            <a:custGeom>
              <a:avLst/>
              <a:gdLst/>
              <a:ahLst/>
              <a:cxnLst/>
              <a:rect l="l" t="t" r="r" b="b"/>
              <a:pathLst>
                <a:path w="994603" h="1593725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126" b="-12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9763125" cy="4949824"/>
            <a:chOff x="0" y="0"/>
            <a:chExt cx="13017500" cy="6599766"/>
          </a:xfrm>
        </p:grpSpPr>
        <p:sp>
          <p:nvSpPr>
            <p:cNvPr id="5" name="TextBox 5"/>
            <p:cNvSpPr txBox="1"/>
            <p:nvPr/>
          </p:nvSpPr>
          <p:spPr>
            <a:xfrm>
              <a:off x="0" y="1184275"/>
              <a:ext cx="13017500" cy="54154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99"/>
                </a:lnSpc>
              </a:pPr>
              <a:r>
                <a:rPr lang="en-US" sz="9999" spc="-299">
                  <a:solidFill>
                    <a:srgbClr val="2A4D8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Hotel Management System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130175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868E96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HOTEL MANAGEMENT SOLUTIONS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66727" y="6476365"/>
            <a:ext cx="7194651" cy="1353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6D7580"/>
                </a:solidFill>
                <a:latin typeface="TT Fors"/>
                <a:ea typeface="TT Fors"/>
                <a:cs typeface="TT Fors"/>
                <a:sym typeface="TT Fors"/>
              </a:rPr>
              <a:t>•Final Project – Database II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6D7580"/>
                </a:solidFill>
                <a:latin typeface="TT Fors"/>
                <a:ea typeface="TT Fors"/>
                <a:cs typeface="TT Fors"/>
                <a:sym typeface="TT Fors"/>
              </a:rPr>
              <a:t>•Prepared by the team 3</a:t>
            </a:r>
          </a:p>
          <a:p>
            <a:pPr marL="0" lvl="0" indent="0" algn="l">
              <a:lnSpc>
                <a:spcPts val="3640"/>
              </a:lnSpc>
            </a:pPr>
            <a:endParaRPr lang="en-US" sz="2600">
              <a:solidFill>
                <a:srgbClr val="6D7580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9444829" y="7829550"/>
            <a:ext cx="4846643" cy="1791955"/>
            <a:chOff x="0" y="0"/>
            <a:chExt cx="6462190" cy="23892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57225"/>
            <a:ext cx="14077950" cy="13338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2A4D8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Proj</a:t>
            </a:r>
            <a:r>
              <a:rPr lang="en-US" sz="8000" u="none" strike="noStrike" spc="-240">
                <a:solidFill>
                  <a:srgbClr val="2A4D8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ect Overview</a:t>
            </a:r>
          </a:p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endParaRPr lang="en-US" sz="8000" u="none" strike="noStrike" spc="-240">
              <a:solidFill>
                <a:srgbClr val="2A4D8F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endParaRPr lang="en-US" sz="8000" u="none" strike="noStrike" spc="-240">
              <a:solidFill>
                <a:srgbClr val="2A4D8F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2A4D8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•A database-driven system to</a:t>
            </a:r>
          </a:p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2A4D8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manage hotel operations</a:t>
            </a:r>
          </a:p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endParaRPr lang="en-US" sz="8000" u="none" strike="noStrike" spc="-240">
              <a:solidFill>
                <a:srgbClr val="2A4D8F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2A4D8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•Designed using Oracle SQL and PL/SQL</a:t>
            </a:r>
          </a:p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endParaRPr lang="en-US" sz="8000" u="none" strike="noStrike" spc="-240">
              <a:solidFill>
                <a:srgbClr val="2A4D8F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endParaRPr lang="en-US" sz="8000" u="none" strike="noStrike" spc="-240">
              <a:solidFill>
                <a:srgbClr val="2A4D8F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endParaRPr lang="en-US" sz="8000" u="none" strike="noStrike" spc="-240">
              <a:solidFill>
                <a:srgbClr val="2A4D8F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endParaRPr lang="en-US" sz="8000" u="none" strike="noStrike" spc="-240">
              <a:solidFill>
                <a:srgbClr val="2A4D8F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endParaRPr lang="en-US" sz="8000" u="none" strike="noStrike" spc="-240">
              <a:solidFill>
                <a:srgbClr val="2A4D8F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5430959" y="752281"/>
            <a:ext cx="2190291" cy="809819"/>
            <a:chOff x="0" y="0"/>
            <a:chExt cx="2920388" cy="10797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30959" y="752281"/>
            <a:ext cx="2190291" cy="809819"/>
            <a:chOff x="0" y="0"/>
            <a:chExt cx="2920388" cy="10797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320495" y="733011"/>
            <a:ext cx="12617455" cy="198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372"/>
              </a:lnSpc>
              <a:spcBef>
                <a:spcPct val="0"/>
              </a:spcBef>
            </a:pPr>
            <a:r>
              <a:rPr lang="en-US" sz="11694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System Objectives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1322" y="4913837"/>
            <a:ext cx="15964782" cy="3590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1"/>
              </a:lnSpc>
            </a:pPr>
            <a:r>
              <a:rPr lang="en-US" sz="5665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Manage hotel users and guests</a:t>
            </a:r>
          </a:p>
          <a:p>
            <a:pPr algn="ctr">
              <a:lnSpc>
                <a:spcPts val="7931"/>
              </a:lnSpc>
            </a:pPr>
            <a:r>
              <a:rPr lang="en-US" sz="5665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Handle reservations and room allocation</a:t>
            </a:r>
          </a:p>
          <a:p>
            <a:pPr algn="ctr">
              <a:lnSpc>
                <a:spcPts val="7931"/>
              </a:lnSpc>
            </a:pPr>
            <a:r>
              <a:rPr lang="en-US" sz="5665">
                <a:solidFill>
                  <a:srgbClr val="000000"/>
                </a:solidFill>
                <a:latin typeface="TT Fors"/>
                <a:ea typeface="TT Fors"/>
                <a:cs typeface="TT Fors"/>
                <a:sym typeface="TT Fors"/>
              </a:rPr>
              <a:t>Manage billing and services efficiently</a:t>
            </a:r>
          </a:p>
          <a:p>
            <a:pPr algn="ctr">
              <a:lnSpc>
                <a:spcPts val="4711"/>
              </a:lnSpc>
              <a:spcBef>
                <a:spcPct val="0"/>
              </a:spcBef>
            </a:pPr>
            <a:endParaRPr lang="en-US" sz="5665">
              <a:solidFill>
                <a:srgbClr val="000000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>
            <a:extLst>
              <a:ext uri="{FF2B5EF4-FFF2-40B4-BE49-F238E27FC236}">
                <a16:creationId xmlns:a16="http://schemas.microsoft.com/office/drawing/2014/main" id="{DF377976-C5E7-4398-835B-191089885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59E4F0F-3B16-431E-B503-D2FE4B362C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8288000" cy="1032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4022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29875" y="0"/>
            <a:ext cx="7858125" cy="10287000"/>
            <a:chOff x="0" y="0"/>
            <a:chExt cx="1764443" cy="23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64443" cy="2309817"/>
            </a:xfrm>
            <a:custGeom>
              <a:avLst/>
              <a:gdLst/>
              <a:ahLst/>
              <a:cxnLst/>
              <a:rect l="l" t="t" r="r" b="b"/>
              <a:pathLst>
                <a:path w="1764443" h="2309817">
                  <a:moveTo>
                    <a:pt x="0" y="0"/>
                  </a:moveTo>
                  <a:lnTo>
                    <a:pt x="1764443" y="0"/>
                  </a:lnTo>
                  <a:lnTo>
                    <a:pt x="1764443" y="2309817"/>
                  </a:lnTo>
                  <a:lnTo>
                    <a:pt x="0" y="2309817"/>
                  </a:lnTo>
                  <a:close/>
                </a:path>
              </a:pathLst>
            </a:custGeom>
            <a:blipFill>
              <a:blip r:embed="rId2"/>
              <a:stretch>
                <a:fillRect t="-255" b="-25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10153872" cy="5295900"/>
            <a:chOff x="0" y="0"/>
            <a:chExt cx="13538496" cy="7061200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1099800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2A4D8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System Modules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120900"/>
              <a:ext cx="13538496" cy="4940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199"/>
                </a:lnSpc>
              </a:pPr>
              <a:r>
                <a:rPr lang="en-US" sz="5999" spc="-179">
                  <a:solidFill>
                    <a:srgbClr val="6D758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User Management</a:t>
              </a:r>
            </a:p>
            <a:p>
              <a:pPr algn="l">
                <a:lnSpc>
                  <a:spcPts val="7199"/>
                </a:lnSpc>
              </a:pPr>
              <a:r>
                <a:rPr lang="en-US" sz="5999" spc="-179">
                  <a:solidFill>
                    <a:srgbClr val="6D758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Room Management</a:t>
              </a:r>
            </a:p>
            <a:p>
              <a:pPr algn="l">
                <a:lnSpc>
                  <a:spcPts val="7199"/>
                </a:lnSpc>
              </a:pPr>
              <a:r>
                <a:rPr lang="en-US" sz="5999" spc="-179">
                  <a:solidFill>
                    <a:srgbClr val="6D758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Reservation Management</a:t>
              </a:r>
            </a:p>
            <a:p>
              <a:pPr marL="0" lvl="0" indent="0" algn="l">
                <a:lnSpc>
                  <a:spcPts val="7199"/>
                </a:lnSpc>
                <a:spcBef>
                  <a:spcPct val="0"/>
                </a:spcBef>
              </a:pPr>
              <a:r>
                <a:rPr lang="en-US" sz="5999" spc="-179">
                  <a:solidFill>
                    <a:srgbClr val="6D758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Billing 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303343" y="7829550"/>
            <a:ext cx="4846643" cy="1791955"/>
            <a:chOff x="0" y="0"/>
            <a:chExt cx="6462190" cy="238927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17337" y="1905733"/>
            <a:ext cx="11453325" cy="8081229"/>
          </a:xfrm>
          <a:custGeom>
            <a:avLst/>
            <a:gdLst/>
            <a:ahLst/>
            <a:cxnLst/>
            <a:rect l="l" t="t" r="r" b="b"/>
            <a:pathLst>
              <a:path w="11453325" h="8081229">
                <a:moveTo>
                  <a:pt x="0" y="0"/>
                </a:moveTo>
                <a:lnTo>
                  <a:pt x="11453324" y="0"/>
                </a:lnTo>
                <a:lnTo>
                  <a:pt x="11453324" y="8081229"/>
                </a:lnTo>
                <a:lnTo>
                  <a:pt x="0" y="80812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69" r="-45727" b="-1236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782212" y="300038"/>
            <a:ext cx="6723573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22"/>
              </a:lnSpc>
              <a:spcBef>
                <a:spcPct val="0"/>
              </a:spcBef>
            </a:pPr>
            <a:r>
              <a:rPr lang="en-US" sz="7602" spc="-228" dirty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MAIN TABLE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25790" y="0"/>
            <a:ext cx="14839835" cy="10287000"/>
          </a:xfrm>
          <a:custGeom>
            <a:avLst/>
            <a:gdLst/>
            <a:ahLst/>
            <a:cxnLst/>
            <a:rect l="l" t="t" r="r" b="b"/>
            <a:pathLst>
              <a:path w="14839835" h="10287000">
                <a:moveTo>
                  <a:pt x="0" y="0"/>
                </a:moveTo>
                <a:lnTo>
                  <a:pt x="14839835" y="0"/>
                </a:lnTo>
                <a:lnTo>
                  <a:pt x="1483983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4" r="-1819" b="-13930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1020" y="1218409"/>
            <a:ext cx="15385960" cy="8039891"/>
          </a:xfrm>
          <a:custGeom>
            <a:avLst/>
            <a:gdLst/>
            <a:ahLst/>
            <a:cxnLst/>
            <a:rect l="l" t="t" r="r" b="b"/>
            <a:pathLst>
              <a:path w="15385960" h="8039891">
                <a:moveTo>
                  <a:pt x="0" y="0"/>
                </a:moveTo>
                <a:lnTo>
                  <a:pt x="15385960" y="0"/>
                </a:lnTo>
                <a:lnTo>
                  <a:pt x="15385960" y="8039891"/>
                </a:lnTo>
                <a:lnTo>
                  <a:pt x="0" y="80398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40" t="-4315" r="-1150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94153" y="720870"/>
            <a:ext cx="7669131" cy="1307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22"/>
              </a:lnSpc>
              <a:spcBef>
                <a:spcPct val="0"/>
              </a:spcBef>
            </a:pPr>
            <a:r>
              <a:rPr lang="en-US" sz="7602" u="none" strike="noStrike" spc="-22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Database Design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42489" y="3572000"/>
            <a:ext cx="13114161" cy="4738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22"/>
              </a:lnSpc>
              <a:spcBef>
                <a:spcPct val="0"/>
              </a:spcBef>
            </a:pPr>
            <a:r>
              <a:rPr lang="en-US" sz="7602" u="none" strike="noStrike" spc="-22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Relational database design</a:t>
            </a:r>
          </a:p>
          <a:p>
            <a:pPr marL="0" lvl="0" indent="0" algn="ctr">
              <a:lnSpc>
                <a:spcPts val="9122"/>
              </a:lnSpc>
              <a:spcBef>
                <a:spcPct val="0"/>
              </a:spcBef>
            </a:pPr>
            <a:r>
              <a:rPr lang="en-US" sz="7602" u="none" strike="noStrike" spc="-22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Primary Keys and Foreign Keys</a:t>
            </a:r>
          </a:p>
          <a:p>
            <a:pPr marL="0" lvl="0" indent="0" algn="ctr">
              <a:lnSpc>
                <a:spcPts val="9122"/>
              </a:lnSpc>
              <a:spcBef>
                <a:spcPct val="0"/>
              </a:spcBef>
            </a:pPr>
            <a:r>
              <a:rPr lang="en-US" sz="7602" u="none" strike="noStrike" spc="-22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Ensures data integrity</a:t>
            </a:r>
          </a:p>
          <a:p>
            <a:pPr marL="0" lvl="0" indent="0" algn="ctr">
              <a:lnSpc>
                <a:spcPts val="9122"/>
              </a:lnSpc>
              <a:spcBef>
                <a:spcPct val="0"/>
              </a:spcBef>
            </a:pPr>
            <a:endParaRPr lang="en-US" sz="7602" u="none" strike="noStrike" spc="-228">
              <a:solidFill>
                <a:srgbClr val="000000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46534" y="563257"/>
            <a:ext cx="7672507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22"/>
              </a:lnSpc>
              <a:spcBef>
                <a:spcPct val="0"/>
              </a:spcBef>
            </a:pPr>
            <a:r>
              <a:rPr lang="en-US" sz="7602" spc="-22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PL/SQL Packages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853571" y="3262312"/>
            <a:ext cx="12580859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22"/>
              </a:lnSpc>
            </a:pPr>
            <a:r>
              <a:rPr lang="en-US" sz="7602" spc="-22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PROCEUDER AND FUNCTION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94861" y="0"/>
            <a:ext cx="13098278" cy="10657519"/>
          </a:xfrm>
          <a:custGeom>
            <a:avLst/>
            <a:gdLst/>
            <a:ahLst/>
            <a:cxnLst/>
            <a:rect l="l" t="t" r="r" b="b"/>
            <a:pathLst>
              <a:path w="13098278" h="10657519">
                <a:moveTo>
                  <a:pt x="0" y="0"/>
                </a:moveTo>
                <a:lnTo>
                  <a:pt x="13098278" y="0"/>
                </a:lnTo>
                <a:lnTo>
                  <a:pt x="13098278" y="10657519"/>
                </a:lnTo>
                <a:lnTo>
                  <a:pt x="0" y="106575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2" r="-1034" b="-36462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840180" cy="10287000"/>
          </a:xfrm>
          <a:custGeom>
            <a:avLst/>
            <a:gdLst/>
            <a:ahLst/>
            <a:cxnLst/>
            <a:rect l="l" t="t" r="r" b="b"/>
            <a:pathLst>
              <a:path w="14840180" h="10287000">
                <a:moveTo>
                  <a:pt x="0" y="0"/>
                </a:moveTo>
                <a:lnTo>
                  <a:pt x="14840180" y="0"/>
                </a:lnTo>
                <a:lnTo>
                  <a:pt x="148401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34" r="-829" b="-176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54002" y="685142"/>
            <a:ext cx="8062556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22"/>
              </a:lnSpc>
              <a:spcBef>
                <a:spcPct val="0"/>
              </a:spcBef>
            </a:pPr>
            <a:r>
              <a:rPr lang="en-US" sz="7602" spc="-22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Stored Procedures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150745" y="3262312"/>
            <a:ext cx="13986510" cy="3609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22"/>
              </a:lnSpc>
              <a:spcBef>
                <a:spcPct val="0"/>
              </a:spcBef>
            </a:pPr>
            <a:r>
              <a:rPr lang="en-US" sz="7602" spc="-22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Add and delete users</a:t>
            </a:r>
          </a:p>
          <a:p>
            <a:pPr algn="ctr">
              <a:lnSpc>
                <a:spcPts val="9122"/>
              </a:lnSpc>
              <a:spcBef>
                <a:spcPct val="0"/>
              </a:spcBef>
            </a:pPr>
            <a:r>
              <a:rPr lang="en-US" sz="7602" spc="-22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Create and cancel reservations</a:t>
            </a:r>
          </a:p>
          <a:p>
            <a:pPr algn="ctr">
              <a:lnSpc>
                <a:spcPts val="9122"/>
              </a:lnSpc>
              <a:spcBef>
                <a:spcPct val="0"/>
              </a:spcBef>
            </a:pPr>
            <a:r>
              <a:rPr lang="en-US" sz="7602" spc="-22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Process billing operations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081778" y="636388"/>
            <a:ext cx="4124444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22"/>
              </a:lnSpc>
              <a:spcBef>
                <a:spcPct val="0"/>
              </a:spcBef>
            </a:pPr>
            <a:r>
              <a:rPr lang="en-US" sz="7602" spc="-22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Functions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975437" y="3262312"/>
            <a:ext cx="10337126" cy="3609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22"/>
              </a:lnSpc>
              <a:spcBef>
                <a:spcPct val="0"/>
              </a:spcBef>
            </a:pPr>
            <a:r>
              <a:rPr lang="en-US" sz="7602" spc="-22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Count total users</a:t>
            </a:r>
          </a:p>
          <a:p>
            <a:pPr algn="ctr">
              <a:lnSpc>
                <a:spcPts val="9122"/>
              </a:lnSpc>
              <a:spcBef>
                <a:spcPct val="0"/>
              </a:spcBef>
            </a:pPr>
            <a:r>
              <a:rPr lang="en-US" sz="7602" spc="-22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Check billing status</a:t>
            </a:r>
          </a:p>
          <a:p>
            <a:pPr algn="ctr">
              <a:lnSpc>
                <a:spcPts val="9122"/>
              </a:lnSpc>
              <a:spcBef>
                <a:spcPct val="0"/>
              </a:spcBef>
            </a:pPr>
            <a:r>
              <a:rPr lang="en-US" sz="7602" spc="-22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Calculate stay duration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9141198" cy="10287000"/>
          </a:xfrm>
          <a:custGeom>
            <a:avLst/>
            <a:gdLst/>
            <a:ahLst/>
            <a:cxnLst/>
            <a:rect l="l" t="t" r="r" b="b"/>
            <a:pathLst>
              <a:path w="19141198" h="10287000">
                <a:moveTo>
                  <a:pt x="0" y="0"/>
                </a:moveTo>
                <a:lnTo>
                  <a:pt x="19141198" y="0"/>
                </a:lnTo>
                <a:lnTo>
                  <a:pt x="1914119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25" r="-5455" b="-5859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30703" y="612011"/>
            <a:ext cx="3226594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22"/>
              </a:lnSpc>
              <a:spcBef>
                <a:spcPct val="0"/>
              </a:spcBef>
            </a:pPr>
            <a:r>
              <a:rPr lang="en-US" sz="7602" spc="-22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Triggers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685050" y="3262312"/>
            <a:ext cx="8917900" cy="3609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22"/>
              </a:lnSpc>
              <a:spcBef>
                <a:spcPct val="0"/>
              </a:spcBef>
            </a:pPr>
            <a:r>
              <a:rPr lang="en-US" sz="7602" spc="-22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Before INSERT trigger</a:t>
            </a:r>
          </a:p>
          <a:p>
            <a:pPr algn="ctr">
              <a:lnSpc>
                <a:spcPts val="9122"/>
              </a:lnSpc>
              <a:spcBef>
                <a:spcPct val="0"/>
              </a:spcBef>
            </a:pPr>
            <a:r>
              <a:rPr lang="en-US" sz="7602" spc="-22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After UPDATE trigger</a:t>
            </a:r>
          </a:p>
          <a:p>
            <a:pPr algn="ctr">
              <a:lnSpc>
                <a:spcPts val="9122"/>
              </a:lnSpc>
              <a:spcBef>
                <a:spcPct val="0"/>
              </a:spcBef>
            </a:pPr>
            <a:r>
              <a:rPr lang="en-US" sz="7602" spc="-22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After DELETE trigger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61585" y="685142"/>
            <a:ext cx="8164830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22"/>
              </a:lnSpc>
              <a:spcBef>
                <a:spcPct val="0"/>
              </a:spcBef>
            </a:pPr>
            <a:r>
              <a:rPr lang="en-US" sz="7602" spc="-22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Technologies Used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59482" y="3262312"/>
            <a:ext cx="6569036" cy="3609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22"/>
              </a:lnSpc>
              <a:spcBef>
                <a:spcPct val="0"/>
              </a:spcBef>
            </a:pPr>
            <a:r>
              <a:rPr lang="en-US" sz="7602" spc="-22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Oracle SQL</a:t>
            </a:r>
          </a:p>
          <a:p>
            <a:pPr algn="ctr">
              <a:lnSpc>
                <a:spcPts val="9122"/>
              </a:lnSpc>
              <a:spcBef>
                <a:spcPct val="0"/>
              </a:spcBef>
            </a:pPr>
            <a:r>
              <a:rPr lang="en-US" sz="7602" spc="-22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PL/SQL</a:t>
            </a:r>
          </a:p>
          <a:p>
            <a:pPr algn="ctr">
              <a:lnSpc>
                <a:spcPts val="9122"/>
              </a:lnSpc>
              <a:spcBef>
                <a:spcPct val="0"/>
              </a:spcBef>
            </a:pPr>
            <a:r>
              <a:rPr lang="en-US" sz="7602" spc="-22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SQL Developer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1764443" cy="2309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64443" cy="2309817"/>
            </a:xfrm>
            <a:custGeom>
              <a:avLst/>
              <a:gdLst/>
              <a:ahLst/>
              <a:cxnLst/>
              <a:rect l="l" t="t" r="r" b="b"/>
              <a:pathLst>
                <a:path w="1764443" h="2309817">
                  <a:moveTo>
                    <a:pt x="0" y="0"/>
                  </a:moveTo>
                  <a:lnTo>
                    <a:pt x="1764443" y="0"/>
                  </a:lnTo>
                  <a:lnTo>
                    <a:pt x="1764443" y="2309817"/>
                  </a:lnTo>
                  <a:lnTo>
                    <a:pt x="0" y="2309817"/>
                  </a:lnTo>
                  <a:close/>
                </a:path>
              </a:pathLst>
            </a:custGeom>
            <a:blipFill>
              <a:blip r:embed="rId2"/>
              <a:stretch>
                <a:fillRect t="-255" b="-25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858125" y="0"/>
            <a:ext cx="9982492" cy="5886450"/>
            <a:chOff x="0" y="0"/>
            <a:chExt cx="13309990" cy="7848600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3309990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2A4D8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Technologies Used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467100"/>
              <a:ext cx="11068284" cy="4381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199"/>
                </a:lnSpc>
              </a:pPr>
              <a:r>
                <a:rPr lang="en-US" sz="5999" spc="-179">
                  <a:solidFill>
                    <a:srgbClr val="6D758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Oracle SQL</a:t>
              </a:r>
            </a:p>
            <a:p>
              <a:pPr algn="l">
                <a:lnSpc>
                  <a:spcPts val="7199"/>
                </a:lnSpc>
              </a:pPr>
              <a:r>
                <a:rPr lang="en-US" sz="5999" spc="-179">
                  <a:solidFill>
                    <a:srgbClr val="6D758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PL/SQL</a:t>
              </a:r>
            </a:p>
            <a:p>
              <a:pPr algn="l">
                <a:lnSpc>
                  <a:spcPts val="7199"/>
                </a:lnSpc>
              </a:pPr>
              <a:r>
                <a:rPr lang="en-US" sz="5999" spc="-179">
                  <a:solidFill>
                    <a:srgbClr val="6D758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SQL Developer</a:t>
              </a:r>
            </a:p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endParaRPr lang="en-US" sz="5999" spc="-179">
                <a:solidFill>
                  <a:srgbClr val="6D758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441357" y="8362323"/>
            <a:ext cx="4846643" cy="1791955"/>
            <a:chOff x="0" y="0"/>
            <a:chExt cx="6462190" cy="238927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137</Words>
  <Application>Microsoft Office PowerPoint</Application>
  <PresentationFormat>Custom</PresentationFormat>
  <Paragraphs>50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ITC Avant Garde Gothic</vt:lpstr>
      <vt:lpstr>Arial</vt:lpstr>
      <vt:lpstr>Calibri</vt:lpstr>
      <vt:lpstr>TT Fors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Visual Introduction to Databases</dc:title>
  <dc:description>Presentation - Visual Introduction to Databases</dc:description>
  <cp:lastModifiedBy>NTG SCHOOL</cp:lastModifiedBy>
  <cp:revision>2</cp:revision>
  <dcterms:created xsi:type="dcterms:W3CDTF">2006-08-16T00:00:00Z</dcterms:created>
  <dcterms:modified xsi:type="dcterms:W3CDTF">2026-01-06T08:30:36Z</dcterms:modified>
  <dc:identifier>DAG9ntLFZus</dc:identifier>
</cp:coreProperties>
</file>